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security need first: fleets need continuous verification, not a one-time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is the motivation; this slide narrows to the research question. The open-set question is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the single-session limitation here; it returns in the evaluation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brief and forward-looking: the prior paper closes on exactly the questions this proposal opens.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Kidmose et al. 2025 make this case: decoded data, low rates, fixed routes, single vehicles, no demographics.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third card is the argument: published accuracies are inflated by evaluation design, not by better modelling.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Mantis is the model, EEG is the transfer evidence, P-AttEnc is the enrollment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Gaps 3-5 are methodological and shape the evaluation; gaps 1-2 are the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RQ2 is the scientific core: expert prior versus generic temporal prior under scarcity.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audit is the part no prior CAN study does; it is what makes the eventual number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methodological contribution: calibrated rejection, not a fourth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prior study we reviewed fails at least one of these; that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risks up front is stronger than being asked about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4 is the decision point: if frozen embeddings separate drivers, weeks 7-8 become extensions; if not, they become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Delete from here onward if the deck must be exactly 15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data source, but its research question is human factors, not identification.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for motivation, not for the open-set framing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else in the field builds on this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clearest published example of the leakage problem our work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scarcity curve is the strongest argument for our data-efficiency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Reframe their drift result as session variability; our best citation for the trip confound.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the mechanism, not the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candidate: classification-native, small enough to fine-tune.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 evidence for the proposal — but it shows Mantis handles unfamiliar signals, not that it separates individuals.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KCID and ORNL avoid decoded OBD-II. Only ORNL has a single session per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the simulator rows when comparing: participants reported the simulator imitated braking poorly (Enev).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Open-Set Driver Identification</a:t>
            </a:r>
          </a:p>
          <a:p>
            <a:pPr algn="l"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from Heavy-Duty J1939 CAN Data</a:t>
            </a:r>
          </a:p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E8A33D"/>
                </a:solidFill>
                <a:latin typeface="Cambria"/>
              </a:rPr>
              <a:t>using Time-Series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2F3F4"/>
                </a:solidFill>
                <a:latin typeface="Calibri"/>
              </a:rPr>
              <a:t>Capstone proposal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Atul Prem Patnala  ·  University of North Carolina Wilmington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B7A82"/>
                </a:solidFill>
                <a:latin typeface="Calibri"/>
              </a:rPr>
              <a:t>Building on TruckIDMe, IEEE AIMS 2025 (Vienna)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Behaviour-based biometrics: a new frontier in driver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Who is actually driving this truck — and can we tell without adding hardware?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CONVENTIONAL VERIFICATION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Keys, fobs, PINs — verify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once, at login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Face / fingerprint readers: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invasive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and privacy-sensitive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Require extra hardware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in every cab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Vulnerable to spoofing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sharing and theft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Nothing detects a driver swap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after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the engine starts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BEHAVIOUR-BASED VERIFICATION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Uses signals the truck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already broadcasts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Passive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verification *during* driving, not just at login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Privacy-preserving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: no camera, no biometric enrolment hardware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Harder to spoof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style is not a credential that can be handed over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Hardware-free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→ deployable across an existing fleet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Why J1939 CAN data, and what we are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The hidden fingerprint inside every commercial truck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657600" cy="480060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10896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WHY CAN SIGNALS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The bus carries every pedal press, torque request and brake application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Rich internal dynamics: torque demand, engine load, fuel rate, turbo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Fine-grained behavioural signal at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native rates (10 ms–1 s)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No extra sensors: no GPS, IMU, camera or phone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554480"/>
            <a:ext cx="3657600" cy="480060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62856" y="1828800"/>
            <a:ext cx="310896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WHY J1939 IS SPECIAL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Standardised PGNs / SPNs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across all commercial trucks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Identical signal meaning regardless of manufacturer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Vendor-agnostic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→ scalable to thousands of vehicles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Supports fleet-wide behavioural modelling, not one-car studies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554480"/>
            <a:ext cx="3657600" cy="4800600"/>
          </a:xfrm>
          <a:prstGeom prst="roundRect">
            <a:avLst>
              <a:gd name="adj" fmla="val 4000"/>
            </a:avLst>
          </a:prstGeom>
          <a:solidFill>
            <a:srgbClr val="EC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310896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E7D7B"/>
                </a:solidFill>
                <a:latin typeface="Cambria"/>
              </a:rPr>
              <a:t>WHAT WE ASK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Can a truck driver be identified from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CAN behaviour alone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?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And the harder question: can the system recognise a driver it has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never enrolled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?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Fleet need: unauthorised swaps, misuse, tampering, theft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Closed-set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answers the first.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Open-set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answers the second.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The dataset: ORNL Driver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Collected by Colorado State University for Oak Ridge National Laboratory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WHAT IT CONTAINS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50 drivers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2014 Kenworth T270 (Class 6)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Identical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20-mile / 50-minute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route, Fort Collins CO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CAN-bus (J1939), GPS, IMU, heart rate + scripted cyberattack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Three groups: Control 17 · Aware 16 · Aware+Protocol 17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Native sampling rates, plus a 1 Hz downsampled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WHAT IT MEANS FOR THIS WORK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46 usable drivers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G1S04 (low CAN rate) and G1S10–12 (clock failure) excluded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The attack hit only the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instrument cluster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a separate bus → behaviour signals are truthful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Largest driver pool at native CAN rates in the published literature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⚠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One drive per driver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identity and trip are confounded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⚠ One vehicle, one route, one 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Prior work: TruckIDMe (IEEE AIMS 2025, Vienna)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Where this project starts — closed-set identification on the same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B3A42"/>
                </a:solidFill>
                <a:latin typeface="Calibri"/>
              </a:rPr>
              <a:t>Pipeline:</a:t>
            </a:r>
            <a:r>
              <a:rPr sz="1500" b="0" i="0">
                <a:solidFill>
                  <a:srgbClr val="2B3A42"/>
                </a:solidFill>
                <a:latin typeface="Calibri"/>
              </a:rPr>
              <a:t> 1 Hz downsampling → 5 aggregates per signal (min, max, mean, std, median) → sparsity filtering → windowing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B3A42"/>
                </a:solidFill>
                <a:latin typeface="Calibri"/>
              </a:rPr>
              <a:t>Split:</a:t>
            </a:r>
            <a:r>
              <a:rPr sz="1500" b="0" i="0">
                <a:solidFill>
                  <a:srgbClr val="2B3A42"/>
                </a:solidFill>
                <a:latin typeface="Calibri"/>
              </a:rPr>
              <a:t> driver-wise, chronological, with a one-window gap between train and test to prevent temporal leakage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B3A42"/>
                </a:solidFill>
                <a:latin typeface="Calibri"/>
              </a:rPr>
              <a:t>Selection:</a:t>
            </a:r>
            <a:r>
              <a:rPr sz="1500" b="0" i="0">
                <a:solidFill>
                  <a:srgbClr val="2B3A42"/>
                </a:solidFill>
                <a:latin typeface="Calibri"/>
              </a:rPr>
              <a:t> Random-Forest importance ranked 262 columns → top 6 features (&gt;90% cumulative importance)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B3A42"/>
                </a:solidFill>
                <a:latin typeface="Calibri"/>
              </a:rPr>
              <a:t>Results:</a:t>
            </a:r>
            <a:r>
              <a:rPr sz="1500" b="0" i="0">
                <a:solidFill>
                  <a:srgbClr val="2B3A42"/>
                </a:solidFill>
                <a:latin typeface="Calibri"/>
              </a:rPr>
              <a:t> Decision Tree ~94.9% · Random Forest ~0.98 · KNN ~0.994 · MLP ~91.3%; AUC &gt; 0.97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B3A42"/>
                </a:solidFill>
                <a:latin typeface="Calibri"/>
              </a:rPr>
              <a:t>Its own stated future work:</a:t>
            </a:r>
            <a:r>
              <a:rPr sz="1500" b="0" i="0">
                <a:solidFill>
                  <a:srgbClr val="2B3A42"/>
                </a:solidFill>
                <a:latin typeface="Calibri"/>
              </a:rPr>
              <a:t> modern sequence models, better feature selection, behavioural drift and generalisability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B3A42"/>
                </a:solidFill>
                <a:latin typeface="Calibri"/>
              </a:rPr>
              <a:t>This proposal takes up that future work</a:t>
            </a:r>
            <a:r>
              <a:rPr sz="1500" b="0" i="0">
                <a:solidFill>
                  <a:srgbClr val="2B3A42"/>
                </a:solidFill>
                <a:latin typeface="Calibri"/>
              </a:rPr>
              <a:t> — and asks the question the paper could not: what about drivers the model has never seen?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Literature 1/3 — the data the field relies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Almost everything published rests on decoded OBD-II at 1 Hz or slower, with few drivers — full inventory of all 25 datasets in the backup slides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5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454"/>
                <a:gridCol w="1150913"/>
                <a:gridCol w="1150913"/>
                <a:gridCol w="2511083"/>
                <a:gridCol w="1987940"/>
                <a:gridCol w="1674055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Dataset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Drivers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Vehicles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Data type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Rate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Route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ORNL (ours)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46 usable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 truck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raw J1939 → SPNs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native (10 ms–1 s)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CIAIR (2007)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274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 van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speech + video + sensors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naturalistic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KCID (2025)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raw CAN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1,000–2,500 Hz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daily + fixed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Hallac (2016)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real-world sensors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single turn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HCRL (2016)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decoded OBD-II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 Hz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Barreto 19drivers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decoded OBD-II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0.14 Hz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UK 19 Drivers (2021)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decoded OBD-II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1 Hz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Literature 2/3 — what has been tried, and what it missed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Four representative studies: strong results, weak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657600" cy="480060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10896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FOUNDATIONS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Enev 2016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(PoPETs): 15 drivers; the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brake pedal alone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gives 87% from 15 min, 100% from 1.5 h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Decimation to 60 Hz justified by human actuation bandwidth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Fingerprint survives different roads and days (91%)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Kwak 2017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: 51 → 15 features, statistics per 60 s window, threshold-based verification, &gt;99%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554480"/>
            <a:ext cx="3657600" cy="480060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62856" y="1828800"/>
            <a:ext cx="310896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DEEP LEARNING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Hu 2023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(IET): CNN + BLSTM ensemble, 20 drivers, 0.96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Augmentation matters most when data is scarce: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+15.2 pts at 1 min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of training data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Shin 2025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: CAN → images → ResNet-18, continuous retraining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Detects an unregistered driver, but with a softmax over 3 drivers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554480"/>
            <a:ext cx="3657600" cy="4800600"/>
          </a:xfrm>
          <a:prstGeom prst="roundRect">
            <a:avLst>
              <a:gd name="adj" fmla="val 4000"/>
            </a:avLst>
          </a:prstGeom>
          <a:solidFill>
            <a:srgbClr val="EC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310896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E7D7B"/>
                </a:solidFill>
                <a:latin typeface="Cambria"/>
              </a:rPr>
              <a:t>THE COMMON FLAWS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10–20 drivers at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1 Hz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, single vehicle, fixed route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Overlapping windows under random splits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— near-duplicates on both sides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No leakage audit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: Kwak's top features are transmission oil temperature and fuel trim — values a driver *cannot* control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Same-session evaluation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: Shin shows 67–78% within a session vs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33–49% across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sessions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Literature 3/3 — the tools this proposal brings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Time-series foundation models, cross-domain transfer, and few-shot enrollment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657600" cy="480060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10896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MANTIS (2026)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Foundation model built for time-series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classification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4.2M parameters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— fine-tunable on a single GPU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Frozen encoder beats larger models: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UCR 0.820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vs MOMENT 0.779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Channel adapters (PCA / linear) for multivariate input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Pre-trained on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purely synthetic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8536" y="1554480"/>
            <a:ext cx="3657600" cy="480060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62856" y="1828800"/>
            <a:ext cx="310896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DOES IT TRANSFER? (EEG, 2025)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Fine-tuned Mantis beats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EEGNet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and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CBraMod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, an EEG-specific foundation model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"Freezing the encoder leads to a huge decrease"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→ fine-tuning is necessary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Pre-training gains are modest: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+0.3 to +5 points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over random init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Compresses 6,000 samples → 512 and still wins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554480"/>
            <a:ext cx="3657600" cy="4800600"/>
          </a:xfrm>
          <a:prstGeom prst="roundRect">
            <a:avLst>
              <a:gd name="adj" fmla="val 4000"/>
            </a:avLst>
          </a:prstGeom>
          <a:solidFill>
            <a:srgbClr val="EC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310896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E7D7B"/>
                </a:solidFill>
                <a:latin typeface="Cambria"/>
              </a:rPr>
              <a:t>FEW-SHOT ENROLLMENT (P-AttEnc, 2025)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Driver =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mean embedding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of a few labelled windows (a *prototype*)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New driver enrolled by storing windows —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no retraining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This is what makes open-set possible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 i="0">
                <a:solidFill>
                  <a:srgbClr val="2B3A42"/>
                </a:solidFill>
                <a:latin typeface="Calibri"/>
              </a:rPr>
              <a:t>▪  ⚠ Their unknown-driver result (65.7%) is a </a:t>
            </a:r>
            <a:r>
              <a:rPr sz="1150" b="1" i="0">
                <a:solidFill>
                  <a:srgbClr val="2B3A42"/>
                </a:solidFill>
                <a:latin typeface="Calibri"/>
              </a:rPr>
              <a:t>2-way</a:t>
            </a:r>
            <a:r>
              <a:rPr sz="1150" b="0" i="0">
                <a:solidFill>
                  <a:srgbClr val="2B3A42"/>
                </a:solidFill>
                <a:latin typeface="Calibri"/>
              </a:rPr>
              <a:t> test; chance is 50%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Five gaps; this proposal addresses the first two directly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B3A42"/>
                </a:solidFill>
                <a:latin typeface="Calibri"/>
              </a:rPr>
              <a:t>1 — Open-set is rudimentary.</a:t>
            </a:r>
            <a:r>
              <a:rPr sz="1500" b="0" i="0">
                <a:solidFill>
                  <a:srgbClr val="2B3A42"/>
                </a:solidFill>
                <a:latin typeface="Calibri"/>
              </a:rPr>
              <a:t> Thresholds exist (Kwak 2017, Shin 2025) but none is calibrated, none reports a threshold-free metric, none evaluates at scale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B3A42"/>
                </a:solidFill>
                <a:latin typeface="Calibri"/>
              </a:rPr>
              <a:t>2 — No foundation models have been applied to CAN driver identification.</a:t>
            </a:r>
            <a:r>
              <a:rPr sz="1500" b="0" i="0">
                <a:solidFill>
                  <a:srgbClr val="2B3A42"/>
                </a:solidFill>
                <a:latin typeface="Calibri"/>
              </a:rPr>
              <a:t> Evidence exists for UCR/UEA, human activity, EEG and gas sensors — not for vehicle buses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B3A42"/>
                </a:solidFill>
                <a:latin typeface="Calibri"/>
              </a:rPr>
              <a:t>3 — Leakage is rarely audited.</a:t>
            </a:r>
            <a:r>
              <a:rPr sz="1500" b="0" i="0">
                <a:solidFill>
                  <a:srgbClr val="2B3A42"/>
                </a:solidFill>
                <a:latin typeface="Calibri"/>
              </a:rPr>
              <a:t> Cumulative counters, fuel level and thermal state separate drivers perfectly for non-behavioural reasons; almost no study screens for it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B3A42"/>
                </a:solidFill>
                <a:latin typeface="Calibri"/>
              </a:rPr>
              <a:t>4 — Same-session evaluation inflates results.</a:t>
            </a:r>
            <a:r>
              <a:rPr sz="1500" b="0" i="0">
                <a:solidFill>
                  <a:srgbClr val="2B3A42"/>
                </a:solidFill>
                <a:latin typeface="Calibri"/>
              </a:rPr>
              <a:t> 67–78% within a session vs 33–49% across sessions (Shin 2025)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B3A42"/>
                </a:solidFill>
                <a:latin typeface="Calibri"/>
              </a:rPr>
              <a:t>5 — Multi-rate CAN is never addressed.</a:t>
            </a:r>
            <a:r>
              <a:rPr sz="1500" b="0" i="0">
                <a:solidFill>
                  <a:srgbClr val="2B3A42"/>
                </a:solidFill>
                <a:latin typeface="Calibri"/>
              </a:rPr>
              <a:t> J1939 spans 10 ms to 1 s per signal; published datasets arrive pre-aligned at 1 Hz, so the problem is invisible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Hypothesis and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One hypothesis, four questions, each answerable within the term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HYPOTHESIS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Only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~40 minutes of data exist per driver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too little to train a deep model from scratch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A model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pre-trained on large time-series corpora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should therefore identify drivers more effectively than hand-engineered features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And its embedding space should support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rejecting drivers it never enrolled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Open question, not an assumption: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no CAN data appears in any pre-training corpus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RESEARCH QUESTIONS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RQ1 — Separability.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Do frozen embeddings separate drivers on audited CAN signals?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RQ2 — Expert vs generic prior.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Do they beat hand-engineered features under one identical split?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RQ3 — Open-set.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Can a calibrated rejection rule separate 10 unenrolled drivers from 36 known ones?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RQ4 — Data efficiency.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How does accuracy decay as labelled data per driver shrinks?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Proposed work 1/3 —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From raw J1939 to model input, with leakage controlled at the front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Signal integrity first.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Keep only audited signals: η² (between-driver variance) plus physical reasoning about what each signal measures. Cumulative counters, fluid levels and the thermal/ambient family are excluded as trip-state proxies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Multi-rate alignment.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Fast signals: mean per 100 ms (decimation with a built-in anti-alias filter). Slow signals: zero-order hold — literally CAN semantics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Windowing.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Non-overlapping windows; two lengths compared: 51 s (512 steps, the model's native input) and 120 s (resized), where our own accuracy saturates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Representation.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Mantis embeddings, intermediate layer, [CLS] + mean-token concatenation; PCA channel adapter if the channel count demands it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Frozen first, fine-tune second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— frozen is a cheap measurement; the EEG and e-nose evidence says fine-tuning will be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Proposed work 2/3 — the open-set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Enrollment by prototype; rejection by distance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ENROLLMENT (no retraining)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Each driver is represented by a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prototype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: the mean embedding of their earliest windows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A new driver is added by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storing windows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not by retraining the model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Query windows are matched to the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nearest prototype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Mechanism borrowed from prototypical networks (P-AttEnc)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REJECTION (the open-set part)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A softmax over 36 drivers can never output "unknown" — the probabilities always sum to one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So rejection uses a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separate score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: distance to the nearest prototype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Threshold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calibrated on known drivers only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never on the unknown set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Reported threshold-free as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AUROC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so the result does not depend on one cutoff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Proposed work 3/3 —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Designed so the numbers survive scrutiny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Driver split: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36 known / 10 unknown, repeated over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5 random partitions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stratified by awareness group, reported as mean ± std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Temporal split: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within each known driver — train first 70%,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discard a 5% gap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, test last 25%, so train and test cover different route positions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Metrics: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top-1/2/5 among the 36 known (chance 2.8%) ·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AUROC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for known vs unknown · learning curve over enrollment size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Baselines under the identical split: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our 9-aggregate Random Forest (50% top-1 from 2 min) and Catch22 features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Central ablation: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the same architecture from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random init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, from the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synthetic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checkpoint, and from the </a:t>
            </a:r>
            <a:r>
              <a:rPr sz="1400" b="1" i="0">
                <a:solidFill>
                  <a:srgbClr val="2B3A42"/>
                </a:solidFill>
                <a:latin typeface="Calibri"/>
              </a:rPr>
              <a:t>real-data</a:t>
            </a:r>
            <a:r>
              <a:rPr sz="1400" b="0" i="0">
                <a:solidFill>
                  <a:srgbClr val="2B3A42"/>
                </a:solidFill>
                <a:latin typeface="Calibri"/>
              </a:rPr>
              <a:t> checkpoint — the gap between them *is* the value of pre-training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Expected contributions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What this produces, and what could go wrong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CONTRIBUTIONS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First application of a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time-series foundation model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to CAN driver identification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Open-set evaluation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with a calibrated rejection threshold and AUROC, at 46-driver scale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A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leakage-audited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benchmark on native-rate J1939 — an honest baseline the field currently lacks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A direct measurement of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expert features vs a generic temporal prior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under data scarcity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RISKS AND MITIGATIONS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Frozen embeddings may not separate drivers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→ fine-tuning budgeted from week 5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Trip confound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: one drive per driver, so identity and session cannot be fully separated → audited signals + declared as a limitation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Dimensionality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: ~62 channels × 512 dims vs ~1,200 windows → PCA adapter, regularised head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Transfer evidence is about signals, not identity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EEG studies split *by subject*; we do the opposite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Timeline — 10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22 September → Thanksgiving week (26 November 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"/>
                <a:gridCol w="1828800"/>
                <a:gridCol w="6400800"/>
              </a:tblGrid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Phase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Weeks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Dates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Deliverable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22 Sep – 3 Oct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Audited windowed tensor; environment + Mantis running; frozen embeddings extracted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Separability + baselines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3–4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6 – 17 Oct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RQ1 measured (KNN / nearest-centroid, t-SNE); RF and Catch22 baselines on the identical split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Open-set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5–6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20 – 31 Oct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Prototype enrollment, rejection score, AUROC over 5 partitions (RQ3)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Fine-tuning + efficiency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7–8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3 – 14 Nov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Random vs synthetic vs real ablation (RQ2); learning curve over enrollment size (RQ4)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Analysis + write-up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9–10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17 – 26 Nov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3A42"/>
                          </a:solidFill>
                          <a:latin typeface="Calibri"/>
                        </a:rPr>
                        <a:t>Ablations, error analysis by group, figures, final report and defence slides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E8A33D"/>
                </a:solidFill>
                <a:latin typeface="Cambria"/>
              </a:rPr>
              <a:t>Backup slides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F3F4"/>
                </a:solidFill>
                <a:latin typeface="Calibri"/>
              </a:rPr>
              <a:t>One slide per reviewed paper — for questions, not for the talk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B3A42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B3A42"/>
                </a:solidFill>
                <a:latin typeface="Cambria"/>
              </a:rPr>
              <a:t>Lanigan et al. (2025) — 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7A82"/>
                </a:solidFill>
                <a:latin typeface="Calibri"/>
              </a:rPr>
              <a:t>Journal of Transportation Security · peer-reviewed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THEIR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50 drivers, one 20-mile / 50-minute route, Fort Collins; 2014 Kenworth T270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3×2 design: awareness (Control / Aware / Aware+Protocol) × experience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Cyberattack mid-route: needles to zero, all warning lights, 2 Hz tone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Instrument cluster only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no control system affected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Awareness alone is not enough: stop rate 9% → 30% →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100%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Reaction time 30.3 s → 16.1 s →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7.5 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with a response protocol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MY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SOPs matter: awareness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plus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explicit instructions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The attack never touches J1939 →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our behaviour signals are truthful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One drive per driver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→ driver and trip are confounded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G3's 100% stop rate may explain why G3 is hardest to classify — the protocol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homogenises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behaviour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A window overlapping the attack could leak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group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not identity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B3A42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B3A42"/>
                </a:solidFill>
                <a:latin typeface="Cambria"/>
              </a:rPr>
              <a:t>Kidmose et al. (2025) — KCID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7A82"/>
                </a:solidFill>
                <a:latin typeface="Calibri"/>
              </a:rPr>
              <a:t>arXiv preprint · dataset review + new raw-CAN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THEIR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Reviews 6 public driver-fingerprinting datasets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Frames driver authentication as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anti-theft defence-in-depth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All public sets are decoded OBD-II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mostly ≤ 1 Hz (Barreto: 0.14 Hz)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Raw CAN wins on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coverage, temporal resolution, fidelity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Costs: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noise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and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interpretability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; Bluetooth adds latency and packet loss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Five gaps: decoded data · low rates ·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fixed routes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· single vehicle · no demographics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MY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Justifies our data choice: native rates, more drivers than any set they review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Their "filter the noise" advice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is our leakage audit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done more rigorously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Two criticisms land on us: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fixed route, single vehicle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declare both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They never say "open-set" and never claim saturation → the framing is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ours to argue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ORNL is absent from their review — an under-used resource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B3A42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B3A42"/>
                </a:solidFill>
                <a:latin typeface="Cambria"/>
              </a:rPr>
              <a:t>Enev et al. (2016) — the foundational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7A82"/>
                </a:solidFill>
                <a:latin typeface="Calibri"/>
              </a:rPr>
              <a:t>Proceedings on Privacy Enhancing Technologies · peer-reviewed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THEIR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15 drivers, one 2009 sedan; parking-lot maneuvers + 50-mile open-road loop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Brake pedal alone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: 87.3% from ~15 min,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100%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from 1.5 hours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All sensors → 100% on open road; accelerator pedal alone only 18–31%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Quadratic interpolation +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decimation to 60 Hz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justified by Nyquist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Fingerprint stability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: same driver, different roads and days → 91%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MY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A single direct-action signal can carry identity →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channel choice beats channel count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Free driving beats prescribed maneuvers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(50% vs 87–100%)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We improve the order: filter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before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decimating; they denoise after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Their stability result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contradicts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Shin's drift finding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They scale using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test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data — a leak we will not copy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B3A42"/>
                </a:solidFill>
                <a:latin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B3A42"/>
                </a:solidFill>
                <a:latin typeface="Cambria"/>
              </a:rPr>
              <a:t>Kwak et al. (2017) — Know Your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7A82"/>
                </a:solidFill>
                <a:latin typeface="Calibri"/>
              </a:rPr>
              <a:t>arXiv preprint · origin of the HCRL / OCSLab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THEIR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10 drivers, KIA Soul, 23 km in Seoul,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1 Hz OBD-II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two round trips each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51 features →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15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by InfoGain ranking; min–max scaling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mean / median / std per 60 s window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→ DT, RF, KNN, MLP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Statistical features are the win: MLP 0.747 →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0.964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Verification by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threshold (0.97)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→ alert the owner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&gt;99% on all road types; parking lot lowest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MY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Their top features are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transmission oil temperature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and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long-term fuel trim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…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…praised precisely because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"the driver cannot manipulate these data"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That is the error we correct: if it can't be manipulated, it isn't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behaviour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60 s windows stepping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1 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+ 10-fold CV → near-duplicates across every fold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Thresholded rejection exists since 2017 → our contribution is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calibration, AUROC, scale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B3A42"/>
                </a:solidFill>
                <a:latin typeface="Cambr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B3A42"/>
                </a:solidFill>
                <a:latin typeface="Cambria"/>
              </a:rPr>
              <a:t>Hu et al. (2023) — ensemble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7A82"/>
                </a:solidFill>
                <a:latin typeface="Calibri"/>
              </a:rPr>
              <a:t>IET Intelligent Transport Systems · peer-reviewed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THEIR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M 1-D CNN + BLSTM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bagging ensemble; 20 drivers, 8 CAN signals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No attention mechanism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Ensemble 0.9595 vs 0.9475 / 0.9133 — the gain is mostly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stability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Parameters: MLP 762k · ResNet 514k ·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M 1-D CNN 90k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· LSTM 6k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Four augmentations: sliding window · noise · reversal · random drift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Test set =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last 30%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of the drive (chronological)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MY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Augmentation pays most when data is scarce: +15.2 pts at 1 min, +1.3 pts at 15 min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Ranked for us: sliding window →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drift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→ noise → reversal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Drift may make the model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invariant to slow trip-state offsets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Reversal turns braking into acceleration → do it last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Accuracy doesn't track parameter count → small models are viable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B3A42"/>
                </a:solidFill>
                <a:latin typeface="Cambr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B3A42"/>
                </a:solidFill>
                <a:latin typeface="Cambria"/>
              </a:rPr>
              <a:t>Shin et al. (2025) — MLOps, MTF images,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7A82"/>
                </a:solidFill>
                <a:latin typeface="Calibri"/>
              </a:rPr>
              <a:t>Electronics (MDPI) · peer-reviewed journal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THEIR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CAN →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Markov Transition Field images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→ ResNet-18 on Google Cloud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Continuous retraining; only models &gt; 70% validation accuracy deploy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Old-data model 33–49% vs recent-data model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67–78%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Detects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unregistered drivers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via multi-maneuver voting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Only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turns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exceed 70% — straight, stop and start 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MY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Images give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structure at the cost of precision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and unlock the CNN ecosystem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Their "drift" test is really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cross-session vs same-session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(~20-month gap)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→ the best evidence that our same-session numbers are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upper bounds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Unregistered-driver detection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already exists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→ our claim must be sharper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Borrow their visualisation habit: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t-SNE by driver, then by trip phase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B3A42"/>
                </a:solidFill>
                <a:latin typeface="Cambria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B3A42"/>
                </a:solidFill>
                <a:latin typeface="Cambria"/>
              </a:rPr>
              <a:t>Lee et al. (2025) — P-AttEnc: few-shot prototypes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7A82"/>
                </a:solidFill>
                <a:latin typeface="Calibri"/>
              </a:rPr>
              <a:t>arXiv preprint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THEIR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Driver ID framed as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multivariate time-series classification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Attention-only encoder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: 87.6% fewer parameters, 44–79% faster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Prototypical network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: driver = mean embedding of a few labelled windows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Classified by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Euclidean distance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to the nearest prototype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Closed-set 99.0–99.9%; 10-way 1-shot 69.8%; "unknown drivers 65.7%"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MY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The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mechanism transfers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: Mantis embeddings → prototype → nearest match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=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enrollment without retraining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which is what makes open-set possible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"65.7% on unknown drivers" is a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2-way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test — chance is 50%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10 drivers per dataset; 30 s windows with 50% overlap, random split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No channel selection, no multi-rate handling, no sampling rate stated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B3A42"/>
                </a:solidFill>
                <a:latin typeface="Cambria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B3A42"/>
                </a:solidFill>
                <a:latin typeface="Cambria"/>
              </a:rPr>
              <a:t>Feofanov et al. (2026) — Mantis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7A82"/>
                </a:solidFill>
                <a:latin typeface="Calibri"/>
              </a:rPr>
              <a:t>arXiv preprint · classification-native time-series foundation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THEIR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4.2M parameters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; contrastive pre-training on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purely synthetic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data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Input resized to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512 steps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→ 32 tokens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Frozen encoder beats larger models: UCR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0.820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vs MOMENT 0.779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Out-of-distribution sensors: Mantis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0.582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vs MOMENT 0.308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Channel adapters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(PCA or linear, d → 10) improved all 10 multivariate sets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Best features come from an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intermediate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layer, not the last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MY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One channel at a time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the encoder never sees two signals together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True zero-shot is impossible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for identity: their "zero-shot" still trains a classifier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Open-set rejection needs a separate score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Mantis provides none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Its tokeniser already encodes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first-order differences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= our "jerkiness" finding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It keeps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unnormalised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patch mean/std → absolute levels survive → audit still required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B3A42"/>
                </a:solidFill>
                <a:latin typeface="Cambria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38912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B3A42"/>
                </a:solidFill>
                <a:latin typeface="Cambria"/>
              </a:rPr>
              <a:t>Gnassounou et al. (2025) — does it transfer?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6B7A82"/>
                </a:solidFill>
                <a:latin typeface="Calibri"/>
              </a:rPr>
              <a:t>arXiv preprint · generic TSFMs applied to EEG · same authors as Mantis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3A42"/>
                </a:solidFill>
                <a:latin typeface="Cambria"/>
              </a:rPr>
              <a:t>THEIR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Fine-tuned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Mantis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on EEG: motor imagery (109 + 25 subjects), sleep staging (8 datasets)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Beats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EEGNet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and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CBraMod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, an EEG-specific foundation model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Wins every sleep dataset (MASS 84.1 vs 81.1 vs 79.9)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Synthetic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pre-training matches or beats real-data pre-training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Channel-independent Mantis beats CBraMod's multivariate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08760"/>
            <a:ext cx="5440680" cy="4846320"/>
          </a:xfrm>
          <a:prstGeom prst="roundRect">
            <a:avLst>
              <a:gd name="adj" fmla="val 4000"/>
            </a:avLst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19672" y="1783080"/>
            <a:ext cx="48920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A86A12"/>
                </a:solidFill>
                <a:latin typeface="Cambria"/>
              </a:rPr>
              <a:t>MY POV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"Freezing the encoder leads to a huge decrease"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→ fine-tuning is necessary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They dropped MOMENT purely because it is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too big to fine-tune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Pre-training gains are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modest (+0.3 to +5 pts)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over random init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⚠ They split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by subject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— identity is a nuisance there; for us identity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is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the label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▪  </a:t>
            </a:r>
            <a:r>
              <a:rPr sz="1250" b="1" i="0">
                <a:solidFill>
                  <a:srgbClr val="2B3A42"/>
                </a:solidFill>
                <a:latin typeface="Calibri"/>
              </a:rPr>
              <a:t>Adopt their design:</a:t>
            </a:r>
            <a:r>
              <a:rPr sz="1250" b="0" i="0">
                <a:solidFill>
                  <a:srgbClr val="2B3A42"/>
                </a:solidFill>
                <a:latin typeface="Calibri"/>
              </a:rPr>
              <a:t> random vs synthetic vs real pre-training = our core ablation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Backup — public driver-identification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Every public dataset named across the ten reviewed papers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5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586"/>
                <a:gridCol w="1309793"/>
                <a:gridCol w="1108286"/>
                <a:gridCol w="2518833"/>
                <a:gridCol w="1712806"/>
                <a:gridCol w="1612053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Dataset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Drivers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Vehicles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Data type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Rate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Sessions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ORNL (ours)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50 → 46 usable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 truck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raw J1939 → SPNs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native 10 ms–1 s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CIAIR (Nagoya)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274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 van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speech + video + sensors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multiple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KCID (2025)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raw CAN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1,000–2,500 Hz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multiple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HCRL / OCSLab (2016)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decoded OBD-II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 Hz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2 round trips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Barreto dailyRoutes (2018)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decoded OBD-II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0.14 Hz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Barreto 19drivers (2018)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decoded OBD-II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0.14 Hz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fixed route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AEGIS (2019)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decoded OBD-II + GPS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20 Hz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not stated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This Car is Mine! (2019)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decoded OBD-II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 Hz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fixed route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UK 19 Drivers (2021)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decoded OBD-II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 Hz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~32 min/driver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Vehicular data trace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CAN-bus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not stated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36 journeys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hciLab driving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GPS + accelerometer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not stated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0.5 h total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B3A42"/>
                </a:solidFill>
                <a:latin typeface="Cambria"/>
              </a:rPr>
              <a:t>Backup — private and simulator datasets in the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Cited inside the reviewed papers; originals not read (secondary sources)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56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6066"/>
                <a:gridCol w="1197947"/>
                <a:gridCol w="3194527"/>
                <a:gridCol w="2994869"/>
                <a:gridCol w="1197947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Study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Drivers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Data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Reported result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Cambria"/>
                        </a:rPr>
                        <a:t>Type</a:t>
                      </a:r>
                    </a:p>
                  </a:txBody>
                  <a:tcPr marL="73152" marR="73152">
                    <a:solidFill>
                      <a:srgbClr val="2B3A4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Hallac et al. (2016)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real-world sensors, 10 vehicles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76.9% (2 drivers) → 50.1% (5)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73152" marR="73152">
                    <a:solidFill>
                      <a:srgbClr val="FDF4E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Lestyán et al.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raw CAN, 8 vehicles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RF re-identification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Dong et al. (ARNet)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GPS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40.4% top-1 / 78.3% top-5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Enev et al. (2016)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15 (+1)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stock sensors, 60 Hz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100%; stability 91% across days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Rahim et al.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CAN events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95.89% (RF)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Sánchez et al.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acceleration → 2-D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71.89% top-1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Jeong / Xun et al.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CAN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Hu et al. own (2023)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8 CAN signals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0.96 (ensemble)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Choi et al.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CAN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31.45% (HMM)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Shin et al. own (2025)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3 + 1 intruder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~300 CAN columns, 1 Hz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67–78% same-session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Wakita et al.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simulator, guide vehicle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SIMULATOR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Zhang et al.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simulator, multi-day sessions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85% (HMM)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SIMULATOR</a:t>
                      </a:r>
                    </a:p>
                  </a:txBody>
                  <a:tcPr marL="73152" marR="73152">
                    <a:solidFill>
                      <a:srgbClr val="F2F3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Lee et al. (2022)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simulator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+19.94% over CNN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B3A42"/>
                          </a:solidFill>
                          <a:latin typeface="Calibri"/>
                        </a:rPr>
                        <a:t>SIMULATOR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